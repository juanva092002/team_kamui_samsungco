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981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producto convierte auditoría compleja en señales para actuar. Decir: Team Kamui diseñó el sistema alrededor del auditor. No abrir con el bootcamp, RoBERTa ni nombres. Pregunta de CEO: ¿qué decisión cambia? No afirmar ahorro.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problema es conectar clínica y cobro. Decir: facturar a una EPS exige coherencia. El informe nombra cobros sin soporte, no facturados, código, cantidad y diagnóstico. No exagerar frecuencia real fuera del demo. Insight: una sola fuente no alcanza para auditar.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proceso anterior era armar el caso a mano. Decir la fricción, no un porcentaje de tiempo. No hay medición de minutos ahorrados. Insight: la dificultad no era decidir; era encontrar la pieza que no cuadraba.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demo hace visible el monto del problema. Decir observado, no recuperado. CEO puede preguntar si son pérdidas reales de una IPS: son del dataset de demostración del informe. No decir que Kamui ahorró 12,22%.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la oportunidad es gestionar excepciones. Decir el antes y el después en una respiración. No cuantificar la mejora. Insight: el auditor entra cuando ya hay una alerta, no cuando hay que armar el cruce.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producto se opera, no se ejecuta en un notebook. El informe describe inicio, carga, proceso, resultado, historial y analytics. Las capturas no están en este repositorio: no simular la UI. Decir el recorrido. No prometer que un auditor real ya lo usó.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la salida es operacional. Recorrer una alerta, su severidad y la acción. No llamar predicciones a las alertas de reglas. Insight: el compositor traduce la detección en aceptar o revisar.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cada capa cierra una parte del ciclo, no existe para lucirse. Si preguntan por la arquitectura, señalar la fila de abajo y pasar al apéndice verbal: ETL prepara, reglas explicitan, DL compara significado, la UI permite actuar. No abrir un diagrama de cajas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algunas decisiones deben ser explícitas. Ejemplos del informe: vía, lateralidad, unilateralidad, diagnóstico frente a terapéutico. Decir que la regla es trazable. No entrar a código. Insight: un modelo no debería ser la única prueba de una contradicción obvia.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lenguaje clínico no cabe entero en una regla. ML aparece porque hay similitud y ambigüedad. No decir que ML es toda la auditoría. Insight: se usa para convertir una relación difícil de escribir a mano en una señal que se puede evaluar.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Deep Learning entra cuando la coincidencia es de significado. El informe usa roberta-base-biomedical-clinical-es como cross-encoder pairwise. No hacer de RoBERTa el héroe. Decir: texto clínico frente a descripción CUPS. Si preguntan el nombre, darlo. No decir que entiende medicina en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 central: no es reglas contra AI. Es la suma. El resultado sigue siendo alerta, severidad, justificación y acción. CTO: ¿por qué no solo el modelo? Porque la contradicción explícita debe quedar trazada. No decir que el híbrido está validado en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la primera solución nos obligó a dudar de la pregunta. F1 1.0 y 0.0, 8/18 y 10/18, documentados en el informe. No llamar basura al histórico. Insight: una métrica alta puede describir el dataset, no 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cambiamos la pregunta para alinearla con el auditor. Antes clasificar, ahora comparar el par. No decir que el modelo propone el código correcto. Insight: la formulación es una decisión de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la nueva pregunta se puede evaluar contra el catálogo real. Números del informe. Los archivos de esa corrida no están en el clone: son documentados, no reejecutados aquí. No presentarlos como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resultado controlado es fuerte y el adversarial muestra el límite. 0.9938 frente a 0.8387. No usarlo como argumento final ni como precisión clínica. Insight: el 99% fue el inicio de la investigación, no el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error cambió el diseño. Contradicción explícita vuelve a reglas. Ambigüedad se queda en Deep Learning. No llamar fracaso al adversarial. Insight: evaluar sirvió para repartir responsabilidades, no solo para publicar un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modelo termina en una experiencia. Recorrer de la señal al dashboard y a la revisión humana. Esta lámina conecta todo lo anterior. No volver a explicar RoBERTa.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tres niveles y no se mezclan. Dato, flujo y decisión son lo que el producto hace. El impacto de negocio está por validar. No presentar tiempo o dinero recuperado como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la analítica pasa del caso al patrón. El informe muestra valor, pérdida estimada, no facturados, sin soporte, tiempo, EPS, ciudad y tipo de atención. No explicar Looker. No hay captura en el repo: usar los números como la vista de negocio, con la etiqueta de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producto completo, cada pieza con un trabajo. Una función por componente. No recitar el stack. Si piden profundidad, el informe técnico es el lugar.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el MVP dice qué se puede construir. Lo siguiente dice cuánto valor genera. Separar las dos listas. No presentar la validación con IPS como hecha.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Historia: hipótesis de producto, no startup real. Cuña, usuario, valor, diferenciación posible, validación y riesgo. No inventar mercado, ingresos ni clientes. No decir moat probado.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Cierre: de datos complejos a decisiones accionables. Team Kamui. La frase final es que el valor estuvo en cómo trabajan juntas las piezas, no en elegir una. No cerrar con un nombre de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8FC9C0"/>
                </a:solidFill>
                <a:latin typeface="Calibri"/>
              </a:rPr>
              <a:t>TEAM KAMUI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0">
                <a:solidFill>
                  <a:srgbClr val="FFFCF8"/>
                </a:solidFill>
                <a:latin typeface="Georgia"/>
              </a:rPr>
              <a:t>Medic-Auditor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>
                <a:solidFill>
                  <a:srgbClr val="D7E8E3"/>
                </a:solidFill>
                <a:latin typeface="Georgia"/>
              </a:rPr>
              <a:t>Convertir auditoría compleja
en decisiones accionables.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7091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C5D8D3"/>
                </a:solidFill>
                <a:latin typeface="Calibri"/>
              </a:rPr>
              <a:t>Cruza historia clínica y prefacturación para detectar, explicar y priorizar inconsistencias.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El problema no era revisar un dato.
Era conectar muchos.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3317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C1B19"/>
                </a:solidFill>
                <a:latin typeface="Calibri"/>
              </a:rPr>
              <a:t>Historia clínica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3744" y="23317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23744" y="2487168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C1B19"/>
                </a:solidFill>
                <a:latin typeface="Calibri"/>
              </a:rPr>
              <a:t>Prefactura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3317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2487168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C1B19"/>
                </a:solidFill>
                <a:latin typeface="Calibri"/>
              </a:rPr>
              <a:t>CUPS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23317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487168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C1B19"/>
                </a:solidFill>
                <a:latin typeface="Calibri"/>
              </a:rPr>
              <a:t>CIE-10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487168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C1B19"/>
                </a:solidFill>
                <a:latin typeface="Calibri"/>
              </a:rPr>
              <a:t>Atributos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31552" y="23317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31552" y="2487168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C1B19"/>
                </a:solidFill>
                <a:latin typeface="Calibri"/>
              </a:rPr>
              <a:t>Reglas de negocio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29184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5E5A54"/>
                </a:solidFill>
                <a:latin typeface="Calibri"/>
              </a:rPr>
              <a:t>Esas piezas tienen que coincidir antes de cobrar. Cuando no coinciden aparece un cobro sin soporte, un procedimiento no facturado, un código distinto, una cantidad distinta o un diagnóstico que no se relaciona.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709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1C1B19"/>
                </a:solidFill>
                <a:latin typeface="Georgia"/>
              </a:rPr>
              <a:t>La factura a la EPS </a:t>
            </a:r>
            <a:r>
              <a:rPr sz="2000" b="0" dirty="0" err="1">
                <a:solidFill>
                  <a:srgbClr val="1C1B19"/>
                </a:solidFill>
                <a:latin typeface="Georgia"/>
              </a:rPr>
              <a:t>depende</a:t>
            </a:r>
            <a:r>
              <a:rPr sz="2000" b="0" dirty="0">
                <a:solidFill>
                  <a:srgbClr val="1C1B19"/>
                </a:solidFill>
                <a:latin typeface="Georgia"/>
              </a:rPr>
              <a:t> de </a:t>
            </a:r>
            <a:r>
              <a:rPr sz="2000" b="0" dirty="0" err="1">
                <a:solidFill>
                  <a:srgbClr val="1C1B19"/>
                </a:solidFill>
                <a:latin typeface="Georgia"/>
              </a:rPr>
              <a:t>esa</a:t>
            </a:r>
            <a:r>
              <a:rPr sz="2000" b="0" dirty="0">
                <a:solidFill>
                  <a:srgbClr val="1C1B19"/>
                </a:solidFill>
                <a:latin typeface="Georgia"/>
              </a:rPr>
              <a:t> </a:t>
            </a:r>
            <a:r>
              <a:rPr sz="2000" b="0" dirty="0" err="1">
                <a:solidFill>
                  <a:srgbClr val="1C1B19"/>
                </a:solidFill>
                <a:latin typeface="Georgia"/>
              </a:rPr>
              <a:t>coherencia</a:t>
            </a:r>
            <a:r>
              <a:rPr sz="2000" b="0" dirty="0">
                <a:solidFill>
                  <a:srgbClr val="1C1B19"/>
                </a:solidFill>
                <a:latin typeface="Georgia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02  /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Encontrar una inconsistencia
significaba conectar las piezas.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774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6974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Clínica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3744" y="23774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26974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Facturación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23774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26974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Catálogos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3774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6974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Cruces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974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Revisión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1552" y="23774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1552" y="26974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Decisión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794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Calibri"/>
              </a:rPr>
              <a:t>Varias fuentes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2152" y="3794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85032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Calibri"/>
              </a:rPr>
              <a:t>Trabajo manual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3794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Calibri"/>
              </a:rPr>
              <a:t>Prioridad poco clara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62872" y="3794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45752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Calibri"/>
              </a:rPr>
              <a:t>Trazabilidad débil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03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LO OBSERVADO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0" dirty="0">
                <a:solidFill>
                  <a:srgbClr val="1C1B19"/>
                </a:solidFill>
                <a:latin typeface="Georgia"/>
              </a:rPr>
              <a:t>Lo </a:t>
            </a:r>
            <a:r>
              <a:rPr sz="3400" b="0" dirty="0" err="1">
                <a:solidFill>
                  <a:srgbClr val="1C1B19"/>
                </a:solidFill>
                <a:latin typeface="Georgia"/>
              </a:rPr>
              <a:t>que</a:t>
            </a:r>
            <a:r>
              <a:rPr sz="3400" b="0" dirty="0">
                <a:solidFill>
                  <a:srgbClr val="1C1B19"/>
                </a:solidFill>
                <a:latin typeface="Georgia"/>
              </a:rPr>
              <a:t> no se </a:t>
            </a:r>
            <a:r>
              <a:rPr sz="3400" b="0" dirty="0" err="1">
                <a:solidFill>
                  <a:srgbClr val="1C1B19"/>
                </a:solidFill>
                <a:latin typeface="Georgia"/>
              </a:rPr>
              <a:t>detecta</a:t>
            </a:r>
            <a:r>
              <a:rPr sz="3400" b="0" dirty="0">
                <a:solidFill>
                  <a:srgbClr val="1C1B19"/>
                </a:solidFill>
                <a:latin typeface="Georgia"/>
              </a:rPr>
              <a:t>,
</a:t>
            </a:r>
            <a:r>
              <a:rPr sz="3400" b="0" dirty="0" err="1">
                <a:solidFill>
                  <a:srgbClr val="1C1B19"/>
                </a:solidFill>
                <a:latin typeface="Georgia"/>
              </a:rPr>
              <a:t>tampoco</a:t>
            </a:r>
            <a:r>
              <a:rPr sz="3400" b="0" dirty="0">
                <a:solidFill>
                  <a:srgbClr val="1C1B19"/>
                </a:solidFill>
                <a:latin typeface="Georgia"/>
              </a:rPr>
              <a:t> se </a:t>
            </a:r>
            <a:r>
              <a:rPr sz="3400" b="0" dirty="0" err="1">
                <a:solidFill>
                  <a:srgbClr val="1C1B19"/>
                </a:solidFill>
                <a:latin typeface="Georgia"/>
              </a:rPr>
              <a:t>gestiona</a:t>
            </a:r>
            <a:r>
              <a:rPr sz="3400" b="0" dirty="0">
                <a:solidFill>
                  <a:srgbClr val="1C1B19"/>
                </a:solidFill>
                <a:latin typeface="Georgi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40280"/>
            <a:ext cx="35661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 dirty="0">
                <a:solidFill>
                  <a:srgbClr val="1C1B19"/>
                </a:solidFill>
                <a:latin typeface="Georgia"/>
              </a:rPr>
              <a:t>$903 M</a:t>
            </a:r>
            <a:r>
              <a:rPr lang="es-ES" sz="3600" b="0" dirty="0">
                <a:solidFill>
                  <a:srgbClr val="1C1B19"/>
                </a:solidFill>
                <a:latin typeface="Georgia"/>
              </a:rPr>
              <a:t> COP</a:t>
            </a:r>
            <a:endParaRPr sz="3600" b="0" dirty="0">
              <a:solidFill>
                <a:srgbClr val="1C1B19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28803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E5A54"/>
                </a:solidFill>
                <a:latin typeface="Calibri"/>
              </a:rPr>
              <a:t>valor total del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6552" y="2240280"/>
            <a:ext cx="35661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 dirty="0">
                <a:solidFill>
                  <a:srgbClr val="1C1B19"/>
                </a:solidFill>
                <a:latin typeface="Georgia"/>
              </a:rPr>
              <a:t>$110 M</a:t>
            </a:r>
            <a:r>
              <a:rPr lang="es-ES" sz="3600" b="0" dirty="0">
                <a:solidFill>
                  <a:srgbClr val="1C1B19"/>
                </a:solidFill>
                <a:latin typeface="Georgia"/>
              </a:rPr>
              <a:t> COP</a:t>
            </a:r>
            <a:endParaRPr sz="3600" b="0" dirty="0">
              <a:solidFill>
                <a:srgbClr val="1C1B19"/>
              </a:solidFill>
              <a:latin typeface="Georg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16552" y="28803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E5A54"/>
                </a:solidFill>
                <a:latin typeface="Calibri"/>
              </a:rPr>
              <a:t>no facturado, estimado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224028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 dirty="0">
                <a:solidFill>
                  <a:srgbClr val="0F5C4C"/>
                </a:solidFill>
                <a:latin typeface="Georgia"/>
              </a:rPr>
              <a:t>12,22%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28803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E5A54"/>
                </a:solidFill>
                <a:latin typeface="Calibri"/>
              </a:rPr>
              <a:t>sobre esa facturación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65760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3794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9A3B12"/>
                </a:solidFill>
                <a:latin typeface="Georgia"/>
              </a:rPr>
              <a:t>251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E5A54"/>
                </a:solidFill>
                <a:latin typeface="Calibri"/>
              </a:rPr>
              <a:t>no facturados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365760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3794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9A3B12"/>
                </a:solidFill>
                <a:latin typeface="Georgia"/>
              </a:rPr>
              <a:t>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42976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E5A54"/>
                </a:solidFill>
                <a:latin typeface="Calibri"/>
              </a:rPr>
              <a:t>sin soporte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365760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3794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9A3B12"/>
                </a:solidFill>
                <a:latin typeface="Georgia"/>
              </a:rPr>
              <a:t>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2976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E5A54"/>
                </a:solidFill>
                <a:latin typeface="Calibri"/>
              </a:rPr>
              <a:t>cantidad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2872" y="365760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45752" y="3794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9A3B12"/>
                </a:solidFill>
                <a:latin typeface="Georgia"/>
              </a:rPr>
              <a:t>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42976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E5A54"/>
                </a:solidFill>
                <a:latin typeface="Calibri"/>
              </a:rPr>
              <a:t>diagnóstico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120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9A3B12"/>
                </a:solidFill>
                <a:latin typeface="Calibri"/>
              </a:rPr>
              <a:t>Cifras del dashboard del informe, sobre el dataset de demostración. No son dinero recuperado.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04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LA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Pasar de revisar datos
a gestionar excepciones.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28600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14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9A3B12"/>
                </a:solidFill>
                <a:latin typeface="Calibri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1C1B19"/>
                </a:solidFill>
                <a:latin typeface="Georgia"/>
              </a:rPr>
              <a:t>Datos
Cruce manual
Hallazgo
Revisión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48716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8FC9C0"/>
                </a:solidFill>
                <a:latin typeface="Calibri"/>
              </a:rPr>
              <a:t>DESPUÉS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92608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FFFCF8"/>
                </a:solidFill>
                <a:latin typeface="Georgia"/>
              </a:rPr>
              <a:t>Validación
Alerta y severidad
Justificación
Acción humana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05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LA EXPERIENCIA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El auditor no debería
necesitar un notebook.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4963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06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Nueva auditoría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3172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24963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7706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Cargar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33172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4963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706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Procesar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33172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24963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7706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Resultados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60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822191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965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Revisar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65760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11880" y="3822191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0965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Exportar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5760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822191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0965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Analizar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2120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E5A54"/>
                </a:solidFill>
                <a:latin typeface="Calibri"/>
              </a:rPr>
              <a:t>El informe documenta ese recorrido. Las capturas no están en este repositorio.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06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LA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1C1B19"/>
                </a:solidFill>
                <a:latin typeface="Georgia"/>
              </a:rPr>
              <a:t>No entregamos predicciones.
Entregamos señales para actuar.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33172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5146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5C4C"/>
                </a:solidFill>
                <a:latin typeface="Calibri"/>
              </a:rPr>
              <a:t>Alertas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71800"/>
            <a:ext cx="23774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C1B19"/>
                </a:solidFill>
                <a:latin typeface="Georgia"/>
              </a:rPr>
              <a:t>No facturado
Sin soporte
Cantidad
Diagnóstico
Código
Consistente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33172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2" y="25146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5C4C"/>
                </a:solidFill>
                <a:latin typeface="Calibri"/>
              </a:rPr>
              <a:t>Severidad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971800"/>
            <a:ext cx="23774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C1B19"/>
                </a:solidFill>
                <a:latin typeface="Georgia"/>
              </a:rPr>
              <a:t>Ninguna
Media
Alta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33172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25146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5C4C"/>
                </a:solidFill>
                <a:latin typeface="Calibri"/>
              </a:rPr>
              <a:t>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971800"/>
            <a:ext cx="23774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C1B19"/>
                </a:solidFill>
                <a:latin typeface="Georgia"/>
              </a:rPr>
              <a:t>Justificación
del hallazgo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2872" y="233172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1C1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45752" y="25146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8FC9C0"/>
                </a:solidFill>
                <a:latin typeface="Calibri"/>
              </a:rPr>
              <a:t>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2971800"/>
            <a:ext cx="23774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FFCF8"/>
                </a:solidFill>
                <a:latin typeface="Georgia"/>
              </a:rPr>
              <a:t>Aceptar
o revisar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07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EL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Cada capa existe para
cerrar el ciclo de decisión.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CF8"/>
                </a:solidFill>
                <a:latin typeface="Calibri"/>
              </a:rPr>
              <a:t>Datos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1408" y="23774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21408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CF8"/>
                </a:solidFill>
                <a:latin typeface="Calibri"/>
              </a:rPr>
              <a:t>Validar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5616" y="23774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85616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CF8"/>
                </a:solidFill>
                <a:latin typeface="Calibri"/>
              </a:rPr>
              <a:t>Detectar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9824" y="23774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9824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CF8"/>
                </a:solidFill>
                <a:latin typeface="Calibri"/>
              </a:rPr>
              <a:t>Explicar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23774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14032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CF8"/>
                </a:solidFill>
                <a:latin typeface="Calibri"/>
              </a:rPr>
              <a:t>Priorizar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3774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CF8"/>
                </a:solidFill>
                <a:latin typeface="Calibri"/>
              </a:rPr>
              <a:t>Revisar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42448" y="23774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42448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CF8"/>
                </a:solidFill>
                <a:latin typeface="Calibri"/>
              </a:rPr>
              <a:t>Actuar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6576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C1B19"/>
                </a:solidFill>
                <a:latin typeface="Georgia"/>
              </a:rPr>
              <a:t>ETL prepara.  Reglas explicitan.  El conocimiento relaciona CIE-10 y CUPS.  Deep Learning compara significado.  La interfaz y el analytics permiten ver y actuar.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08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REGLAS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Algunas decisiones no deberían
depender de un modelo.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33172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57860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Abierta / laparoscópica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233172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257860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Derecha / izquierda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3383279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Unilateral / bilateral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3383279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63016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Diagnóstico / terapéutico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709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0F5C4C"/>
                </a:solidFill>
                <a:latin typeface="Georgia"/>
              </a:rPr>
              <a:t>La regla es determinista, explícita y auditable.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09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No todo se puede expresar
como una regla.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86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1C1B19"/>
                </a:solidFill>
                <a:latin typeface="Georgia"/>
              </a:rPr>
              <a:t>Lenguaje clínico  +  similitud  +  ambigüedad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8803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0F5C4C"/>
                </a:solidFill>
                <a:latin typeface="Calibri"/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38328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1C1B19"/>
                </a:solidFill>
                <a:latin typeface="Georgia"/>
              </a:rPr>
              <a:t>Machine Learning convierte esa relación en una señal que se puede medir.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Cuando la coincidencia depende
del significado, hay que leer.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377440"/>
            <a:ext cx="5029200" cy="21031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37960" y="2377440"/>
            <a:ext cx="5029200" cy="21031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F5C4C"/>
                </a:solidFill>
                <a:latin typeface="Calibri"/>
              </a:rPr>
              <a:t>Texto clínico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1C1B19"/>
                </a:solidFill>
                <a:latin typeface="Georgia"/>
              </a:rPr>
              <a:t>Lo que quedó escrito
en la atención.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F5C4C"/>
                </a:solidFill>
                <a:latin typeface="Calibri"/>
              </a:rPr>
              <a:t>Descripción CUPS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108960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1C1B19"/>
                </a:solidFill>
                <a:latin typeface="Georgia"/>
              </a:rPr>
              <a:t>Lo que el código
dice que se cobró.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8006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Deep Learning se usa donde la regla explícita ya no alcanza: para decir si ambos hablan del mismo procedimiento.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No es reglas contra AI.
Es reglas más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240280"/>
            <a:ext cx="3931920" cy="56692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5915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Calibri"/>
              </a:rPr>
              <a:t>Reglas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98648"/>
            <a:ext cx="3931920" cy="56692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Calibri"/>
              </a:rPr>
              <a:t>Conocimiento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3557016"/>
            <a:ext cx="3931920" cy="56692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75887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Calibri"/>
              </a:rPr>
              <a:t>Deep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215384"/>
            <a:ext cx="3931920" cy="56692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33425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Calibri"/>
              </a:rPr>
              <a:t>Datos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873752"/>
            <a:ext cx="3931920" cy="56692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992624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Calibri"/>
              </a:rPr>
              <a:t>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880360"/>
            <a:ext cx="5760720" cy="2286000"/>
          </a:xfrm>
          <a:prstGeom prst="roundRect">
            <a:avLst>
              <a:gd name="adj" fmla="val 8000"/>
            </a:avLst>
          </a:prstGeom>
          <a:solidFill>
            <a:srgbClr val="14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310896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8FC9C0"/>
                </a:solidFill>
                <a:latin typeface="Calibri"/>
              </a:rPr>
              <a:t>DECISIÓN DE AUDITORÍA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56616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FFFCF8"/>
                </a:solidFill>
                <a:latin typeface="Georgia"/>
              </a:rPr>
              <a:t>Alerta, severidad,
justificación y acción.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EL GIRO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La primera solución nos obligó
a cuestionar el problema.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488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E5A54"/>
                </a:solidFill>
                <a:latin typeface="Calibri"/>
              </a:rPr>
              <a:t>TextCNN y BETO predecían un CUPS y lo comparaban con el facturado.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017520"/>
            <a:ext cx="3200400" cy="1965960"/>
          </a:xfrm>
          <a:prstGeom prst="roundRect">
            <a:avLst>
              <a:gd name="adj" fmla="val 8000"/>
            </a:avLst>
          </a:prstGeom>
          <a:solidFill>
            <a:srgbClr val="E5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0" y="3017520"/>
            <a:ext cx="3200400" cy="1965960"/>
          </a:xfrm>
          <a:prstGeom prst="roundRect">
            <a:avLst>
              <a:gd name="adj" fmla="val 8000"/>
            </a:avLst>
          </a:prstGeom>
          <a:solidFill>
            <a:srgbClr val="F8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0">
                <a:solidFill>
                  <a:srgbClr val="0F5C4C"/>
                </a:solidFill>
                <a:latin typeface="Georgia"/>
              </a:rPr>
              <a:t>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F5C4C"/>
                </a:solidFill>
                <a:latin typeface="Calibri"/>
              </a:rPr>
              <a:t>F1 estratificado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32004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0">
                <a:solidFill>
                  <a:srgbClr val="9A3B12"/>
                </a:solidFill>
                <a:latin typeface="Georgia"/>
              </a:rPr>
              <a:t>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397763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9A3B12"/>
                </a:solidFill>
                <a:latin typeface="Calibri"/>
              </a:rPr>
              <a:t>F1 por 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246120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C1B19"/>
                </a:solidFill>
                <a:latin typeface="Georgia"/>
              </a:rPr>
              <a:t>8 / 18 fuera del catálogo. 10 / 18 con otra descripción.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Cambiamos la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116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5E5A54"/>
                </a:solidFill>
                <a:latin typeface="Georgia"/>
              </a:rPr>
              <a:t>¿Qué código corresponde a este texto?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74320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0">
                <a:solidFill>
                  <a:srgbClr val="1C1B19"/>
                </a:solidFill>
                <a:latin typeface="Georgia"/>
              </a:rPr>
              <a:t>¿Este texto describe el mismo procedimiento que esta descripción CUPS?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206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9A3B12"/>
                </a:solidFill>
                <a:latin typeface="Calibri"/>
              </a:rPr>
              <a:t>Clasificación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617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Predict and 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F5C4C"/>
                </a:solidFill>
                <a:latin typeface="Calibri"/>
              </a:rPr>
              <a:t>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177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Par semántico, anclado al catálogo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LA ESCALA DE LA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La nueva pregunta se evalúa
contra el catálogo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3172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13.640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971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E5A54"/>
                </a:solidFill>
                <a:latin typeface="Calibri"/>
              </a:rPr>
              <a:t>códigos CUPS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6552" y="233172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118.670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6552" y="2971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E5A54"/>
                </a:solidFill>
                <a:latin typeface="Calibri"/>
              </a:rPr>
              <a:t>pares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233172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95.031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2971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E5A54"/>
                </a:solidFill>
                <a:latin typeface="Calibri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069079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23.639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709159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E5A54"/>
                </a:solidFill>
                <a:latin typeface="Calibri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4069079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4709159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E5A54"/>
                </a:solidFill>
                <a:latin typeface="Calibri"/>
              </a:rPr>
              <a:t>CUPS compartidos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4069079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4709159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E5A54"/>
                </a:solidFill>
                <a:latin typeface="Calibri"/>
              </a:rPr>
              <a:t>adversariales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1C1B19"/>
                </a:solidFill>
                <a:latin typeface="Georgia"/>
              </a:rPr>
              <a:t>El resultado fue fuerte.
La prueba difícil mostró el límite.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286000"/>
            <a:ext cx="5532120" cy="31089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2286000"/>
            <a:ext cx="5212080" cy="3108960"/>
          </a:xfrm>
          <a:prstGeom prst="roundRect">
            <a:avLst>
              <a:gd name="adj" fmla="val 6000"/>
            </a:avLst>
          </a:prstGeom>
          <a:solidFill>
            <a:srgbClr val="F8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0">
                <a:solidFill>
                  <a:srgbClr val="0F5C4C"/>
                </a:solidFill>
                <a:latin typeface="Georgia"/>
              </a:rPr>
              <a:t>0.9938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Precision 0.9985
Recall 0.9892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9A3B12"/>
                </a:solidFill>
                <a:latin typeface="Calibri"/>
              </a:rPr>
              <a:t>ADVERSARIAL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0">
                <a:solidFill>
                  <a:srgbClr val="9A3B12"/>
                </a:solidFill>
                <a:latin typeface="Georgia"/>
              </a:rPr>
              <a:t>0.8387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Precision 0.9286
Recall 0.7647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6235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9A3B12"/>
                </a:solidFill>
                <a:latin typeface="Calibri"/>
              </a:rPr>
              <a:t>Evaluación sintética. No es desempeño clínico.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EL ERROR ÚTIL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Los errores también
mejoraron el producto.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945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E5A54"/>
                </a:solidFill>
                <a:latin typeface="Calibri"/>
              </a:rPr>
              <a:t>Fallo del modelo  →  análisis  →  dueño de la decisión  →  regla o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01752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301752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9A3B12"/>
                </a:solidFill>
                <a:latin typeface="Calibri"/>
              </a:rPr>
              <a:t>Contradicción explícita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1C1B19"/>
                </a:solidFill>
                <a:latin typeface="Georgia"/>
              </a:rPr>
              <a:t>La resuelve una regla.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32461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F5C4C"/>
                </a:solidFill>
                <a:latin typeface="Calibri"/>
              </a:rPr>
              <a:t>Ambigüedad semántica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379476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1C1B19"/>
                </a:solidFill>
                <a:latin typeface="Georgia"/>
              </a:rPr>
              <a:t>La evalúa Deep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DEL MODELO AL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No terminó en una métrica.
Terminó en una experiencia.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86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Señal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788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Alerta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291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Severidad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794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Explicación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297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800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Vista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303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Revisión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017520"/>
            <a:ext cx="56692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1C1B19"/>
                </a:solidFill>
                <a:latin typeface="Georgia"/>
              </a:rPr>
              <a:t>El auditor ve el caso, entiende por qué apareció y decide. La vista agregada muestra el patrón, no solo la fila.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18  / 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El impacto ocurre
en tres niveles.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94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5C4C"/>
                </a:solidFill>
                <a:latin typeface="Calibri"/>
              </a:rPr>
              <a:t>01  Dato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194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La información queda cruzada y estructurada.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971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5C4C"/>
                </a:solidFill>
                <a:latin typeface="Calibri"/>
              </a:rPr>
              <a:t>02  Flujo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971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El cruce deja de depender de armarlo a mano.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74903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5C4C"/>
                </a:solidFill>
                <a:latin typeface="Calibri"/>
              </a:rPr>
              <a:t>03  Decisión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749039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El hallazgo llega priorizado, explicado y con una acción.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7091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9A3B12"/>
                </a:solidFill>
                <a:latin typeface="Calibri"/>
              </a:rPr>
              <a:t>Por validar: dinero recuperado, tiempo por auditoría, cobertura, alertas confirmadas y el costo de un falso positivo o un falso negativo.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19  /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LA VISTA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0">
                <a:solidFill>
                  <a:srgbClr val="1C1B19"/>
                </a:solidFill>
                <a:latin typeface="Georgia"/>
              </a:rPr>
              <a:t>Del caso individual
al patrón.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3317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Valor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3317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27432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Pérdida estimada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23317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30768" y="27432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No facturados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749039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160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Sin soporte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3749039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4160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EPS y ciudad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3749039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4160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Georgia"/>
              </a:rPr>
              <a:t>Tipo de atención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349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E5A54"/>
                </a:solidFill>
                <a:latin typeface="Calibri"/>
              </a:rPr>
              <a:t>La analítica deja ver la magnitud. Sigue siendo el demo, no una operación medida.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20  /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LO CONSTRUIDO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1C1B19"/>
                </a:solidFill>
                <a:latin typeface="Georgia"/>
              </a:rPr>
              <a:t>El producto completo.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659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Datos y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6596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Preparan el flujo.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6517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Reglas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Hacen explícita la contradicción.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3375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3756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Compara el significado.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0233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API y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2336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Orquestan y guardan.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7091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Aplicación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70916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Permite operar.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3949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Analytics y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9496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Muestran el patrón y sacan el caso.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21  / 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AHORA Y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>
                <a:solidFill>
                  <a:srgbClr val="1C1B19"/>
                </a:solidFill>
                <a:latin typeface="Georgia"/>
              </a:rPr>
              <a:t>El MVP dice qué podemos construir.
Lo siguiente, cuánto valor genera.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31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5C4C"/>
                </a:solidFill>
                <a:latin typeface="Calibri"/>
              </a:rPr>
              <a:t>CONSTRUIDO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7432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C1B19"/>
                </a:solidFill>
                <a:latin typeface="Georgia"/>
              </a:rPr>
              <a:t>Carga, validación, alertas, explicación, vista y exportación.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31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9A3B12"/>
                </a:solidFill>
                <a:latin typeface="Calibri"/>
              </a:rPr>
              <a:t>POR VALIDAR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C1B19"/>
                </a:solidFill>
                <a:latin typeface="Georgia"/>
              </a:rPr>
              <a:t>IPS real, auditores, gold, tiempo, dinero y feedback humano.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22  /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F5C4C"/>
                </a:solidFill>
                <a:latin typeface="Calibri"/>
              </a:rPr>
              <a:t>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>
                <a:solidFill>
                  <a:srgbClr val="1C1B19"/>
                </a:solidFill>
                <a:latin typeface="Georgia"/>
              </a:rPr>
              <a:t>Si Team Kamui lo convirtiera
en producto.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488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Cuña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4884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Auditoría clínica y financiera.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80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88036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Quien audita en una 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6118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61188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Ver la inconsistencia antes de que sea pérdida o riesgo.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3434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Diferencia posible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34340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Reglas, conocimiento, Deep Learning y el flujo juntos.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0749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5C4C"/>
                </a:solidFill>
                <a:latin typeface="Calibri"/>
              </a:rPr>
              <a:t>Riesgo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07492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C1B19"/>
                </a:solidFill>
                <a:latin typeface="Calibri"/>
              </a:rPr>
              <a:t>Falsos positivos, falsos negativos, adopción y calidad del dato.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E5A54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5E5A54"/>
                </a:solidFill>
                <a:latin typeface="Calibri"/>
              </a:rPr>
              <a:t>23  /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515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8FC9C0"/>
                </a:solidFill>
                <a:latin typeface="Calibri"/>
              </a:rPr>
              <a:t>TEAM KAMUI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63040"/>
            <a:ext cx="10972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FFFCF8"/>
                </a:solidFill>
                <a:latin typeface="Georgia"/>
              </a:rPr>
              <a:t>De datos complejos
a decisiones accionables.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38328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D7E8E3"/>
                </a:solidFill>
                <a:latin typeface="Georgia"/>
              </a:rPr>
              <a:t>Software, datos, Machine Learning, Deep Learning,
conocimiento de dominio y diseño de producto.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7091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FFFCF8"/>
                </a:solidFill>
                <a:latin typeface="Calibri"/>
              </a:rPr>
              <a:t>El valor no estaba en elegir una tecnología. Estaba en diseñar cómo todas trabajaban juntas para resolver el problema.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8FC9C0"/>
                </a:solidFill>
                <a:latin typeface="Calibri"/>
              </a:rPr>
              <a:t>TEAM KAMUI  ·  MEDIC-AUDITOR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288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8FC9C0"/>
                </a:solidFill>
                <a:latin typeface="Calibri"/>
              </a:rPr>
              <a:t>24  /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2286</Words>
  <Application>Microsoft Office PowerPoint</Application>
  <PresentationFormat>Panorámica</PresentationFormat>
  <Paragraphs>300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Juan Carlos Pastas Valencia</dc:creator>
  <cp:keywords/>
  <dc:description>generated using python-pptx</dc:description>
  <cp:lastModifiedBy>Carlos Pastas (JAVA13)</cp:lastModifiedBy>
  <cp:revision>2</cp:revision>
  <dcterms:created xsi:type="dcterms:W3CDTF">2013-01-27T09:14:16Z</dcterms:created>
  <dcterms:modified xsi:type="dcterms:W3CDTF">2026-09-24T22:19:43Z</dcterms:modified>
  <cp:category/>
</cp:coreProperties>
</file>